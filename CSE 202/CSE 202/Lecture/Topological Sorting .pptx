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8CntlMuxw6nzdLPTYcCPN0hf2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7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6.xml"/><Relationship Id="rId32" Type="http://schemas.openxmlformats.org/officeDocument/2006/relationships/font" Target="fonts/Nunito-italic.fntdata"/><Relationship Id="rId13" Type="http://schemas.openxmlformats.org/officeDocument/2006/relationships/slide" Target="slides/slide9.xml"/><Relationship Id="rId35" Type="http://schemas.openxmlformats.org/officeDocument/2006/relationships/font" Target="fonts/GillSans-bold.fntdata"/><Relationship Id="rId12" Type="http://schemas.openxmlformats.org/officeDocument/2006/relationships/slide" Target="slides/slide8.xml"/><Relationship Id="rId34" Type="http://schemas.openxmlformats.org/officeDocument/2006/relationships/font" Target="fonts/GillSans-regular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20" name="Google Shape;20;p27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27" name="Google Shape;27;p2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34" name="Google Shape;34;p29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42" name="Google Shape;42;p30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1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1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52" name="Google Shape;52;p3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58" name="Google Shape;58;p3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70" name="Google Shape;70;p34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5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35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5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35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35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5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81" name="Google Shape;81;p35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6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88" name="Google Shape;88;p3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7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95" name="Google Shape;95;p37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26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cxnSp>
        <p:nvCxnSpPr>
          <p:cNvPr id="13" name="Google Shape;13;p26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geeksforgeeks.org/dsa/introduction-to-directed-acyclic-graph/" TargetMode="External"/><Relationship Id="rId4" Type="http://schemas.openxmlformats.org/officeDocument/2006/relationships/hyperlink" Target="https://www.geeksforgeeks.org/dsa/introduction-to-directed-acyclic-grap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200"/>
              <a:buFont typeface="Arial"/>
              <a:buNone/>
            </a:pPr>
            <a:r>
              <a:rPr b="1" lang="en-ZA" sz="7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TOPOLOGICAL SORTING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ZA"/>
              <a:t>DIRECTED ACYCLIC GRAPH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A </a:t>
            </a:r>
            <a:r>
              <a:rPr b="1" lang="en-ZA"/>
              <a:t>Directed Acyclic Graph (DAG)</a:t>
            </a:r>
            <a:r>
              <a:rPr lang="en-ZA"/>
              <a:t> is a directed graph that does not contain any cycles.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7678" y="2487384"/>
            <a:ext cx="4134122" cy="34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ZA"/>
              <a:t>TOPOLOGICAL SORT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Topological order for </a:t>
            </a:r>
            <a:r>
              <a:rPr b="1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Directed Acyclic Graph (DAG)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is a linear ordering of vertices such that for every directed edge u-v, vertex </a:t>
            </a:r>
            <a:r>
              <a:rPr b="1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comes before </a:t>
            </a:r>
            <a:r>
              <a:rPr b="1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v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in the ordering.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Note: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Topological Sorting for a graph is not possible if the graph is not a </a:t>
            </a:r>
            <a:r>
              <a:rPr b="1" i="0" lang="en-ZA" u="sng">
                <a:solidFill>
                  <a:srgbClr val="357960"/>
                </a:solidFill>
                <a:latin typeface="Nunito"/>
                <a:ea typeface="Nunito"/>
                <a:cs typeface="Nunito"/>
                <a:sym typeface="Nunito"/>
              </a:rPr>
              <a:t>DAG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ZA" sz="4000"/>
              <a:t>TOPOLOGICAL SORT</a:t>
            </a:r>
            <a:endParaRPr sz="2000" u="sng"/>
          </a:p>
        </p:txBody>
      </p:sp>
      <p:sp>
        <p:nvSpPr>
          <p:cNvPr id="120" name="Google Shape;120;p4"/>
          <p:cNvSpPr/>
          <p:nvPr/>
        </p:nvSpPr>
        <p:spPr>
          <a:xfrm>
            <a:off x="1835703" y="2003626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942799" y="2003626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835703" y="3847750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942799" y="3847750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049895" y="2003626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049895" y="3847750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126" name="Google Shape;126;p4"/>
          <p:cNvCxnSpPr>
            <a:stCxn id="120" idx="4"/>
            <a:endCxn id="122" idx="0"/>
          </p:cNvCxnSpPr>
          <p:nvPr/>
        </p:nvCxnSpPr>
        <p:spPr>
          <a:xfrm>
            <a:off x="2140503" y="2626478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4"/>
          <p:cNvCxnSpPr>
            <a:endCxn id="121" idx="2"/>
          </p:cNvCxnSpPr>
          <p:nvPr/>
        </p:nvCxnSpPr>
        <p:spPr>
          <a:xfrm>
            <a:off x="2445199" y="2315052"/>
            <a:ext cx="149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4"/>
          <p:cNvCxnSpPr>
            <a:stCxn id="120" idx="5"/>
            <a:endCxn id="123" idx="1"/>
          </p:cNvCxnSpPr>
          <p:nvPr/>
        </p:nvCxnSpPr>
        <p:spPr>
          <a:xfrm>
            <a:off x="2356029" y="2535263"/>
            <a:ext cx="16761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4"/>
          <p:cNvCxnSpPr/>
          <p:nvPr/>
        </p:nvCxnSpPr>
        <p:spPr>
          <a:xfrm>
            <a:off x="4247599" y="2626478"/>
            <a:ext cx="0" cy="122127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4"/>
          <p:cNvCxnSpPr>
            <a:endCxn id="124" idx="2"/>
          </p:cNvCxnSpPr>
          <p:nvPr/>
        </p:nvCxnSpPr>
        <p:spPr>
          <a:xfrm>
            <a:off x="4572395" y="2315052"/>
            <a:ext cx="1477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4"/>
          <p:cNvCxnSpPr/>
          <p:nvPr/>
        </p:nvCxnSpPr>
        <p:spPr>
          <a:xfrm>
            <a:off x="6354695" y="2626478"/>
            <a:ext cx="0" cy="122127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4"/>
          <p:cNvCxnSpPr>
            <a:endCxn id="125" idx="2"/>
          </p:cNvCxnSpPr>
          <p:nvPr/>
        </p:nvCxnSpPr>
        <p:spPr>
          <a:xfrm>
            <a:off x="4552295" y="4159176"/>
            <a:ext cx="149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4"/>
          <p:cNvCxnSpPr>
            <a:stCxn id="124" idx="3"/>
            <a:endCxn id="123" idx="7"/>
          </p:cNvCxnSpPr>
          <p:nvPr/>
        </p:nvCxnSpPr>
        <p:spPr>
          <a:xfrm flipH="1">
            <a:off x="4463069" y="2535263"/>
            <a:ext cx="16761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4"/>
          <p:cNvSpPr txBox="1"/>
          <p:nvPr/>
        </p:nvSpPr>
        <p:spPr>
          <a:xfrm>
            <a:off x="919282" y="4950037"/>
            <a:ext cx="32286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ZA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b="0" i="0" lang="en-ZA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(1, 3, 2, 5, 4, 6) </a:t>
            </a:r>
            <a:endParaRPr i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19282" y="5350147"/>
            <a:ext cx="960294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Note: there may be multiple topological orderings.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2, 3, 5, 4, 6) is also valid.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ZA" sz="3600"/>
              <a:t>TOPOLOGICAL SORT ALGORITHMS</a:t>
            </a:r>
            <a:endParaRPr/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ZA" sz="3200"/>
              <a:t>There are 2 main algorithms for finding the topological order of a graph: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Gill Sans"/>
              <a:buAutoNum type="arabicPeriod"/>
            </a:pPr>
            <a:r>
              <a:rPr lang="en-ZA" sz="3200"/>
              <a:t>Kahn’s Algorithm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Gill Sans"/>
              <a:buAutoNum type="arabicPeriod"/>
            </a:pPr>
            <a:r>
              <a:rPr lang="en-ZA" sz="3200"/>
              <a:t>DFS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ZA" sz="4400"/>
              <a:t>KAHN’S ALGORITHM</a:t>
            </a:r>
            <a:endParaRPr sz="2400"/>
          </a:p>
        </p:txBody>
      </p:sp>
      <p:sp>
        <p:nvSpPr>
          <p:cNvPr id="147" name="Google Shape;147;p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Kahn's Algorithm</a:t>
            </a:r>
            <a:r>
              <a:rPr b="0" i="1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works by repeatedly finding vertices with </a:t>
            </a:r>
            <a:r>
              <a:rPr b="0" i="1" lang="en-ZA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no incoming edges</a:t>
            </a:r>
            <a:r>
              <a:rPr b="0" i="1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, removing them from the graph, and </a:t>
            </a:r>
            <a:r>
              <a:rPr b="0" i="1" lang="en-ZA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updating the incoming edges</a:t>
            </a:r>
            <a:r>
              <a:rPr b="0" i="1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of the vertices connected from the removed removed edges. This process continues until all vertices have been ordered.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KAHN’S ALGORITHM</a:t>
            </a:r>
            <a:endParaRPr u="sng"/>
          </a:p>
        </p:txBody>
      </p:sp>
      <p:sp>
        <p:nvSpPr>
          <p:cNvPr id="153" name="Google Shape;153;p7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b="1" lang="en-ZA" sz="2600">
                <a:solidFill>
                  <a:srgbClr val="FF0000"/>
                </a:solidFill>
              </a:rPr>
              <a:t>Compute the in-degree of each vertex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ZA" sz="2600"/>
              <a:t>Add all of the vertices with an </a:t>
            </a:r>
            <a:r>
              <a:rPr lang="en-ZA" sz="2600">
                <a:solidFill>
                  <a:srgbClr val="FF0000"/>
                </a:solidFill>
              </a:rPr>
              <a:t>in-degree of 0 </a:t>
            </a:r>
            <a:r>
              <a:rPr lang="en-ZA" sz="2600"/>
              <a:t>onto a queue </a:t>
            </a:r>
            <a:r>
              <a:rPr i="1" lang="en-ZA" sz="2600"/>
              <a:t>Q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ZA" sz="2600"/>
              <a:t>Initilize an empty list topo_order</a:t>
            </a:r>
            <a:endParaRPr sz="26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ZA" sz="2600"/>
              <a:t>While Q is not empty:</a:t>
            </a:r>
            <a:endParaRPr/>
          </a:p>
          <a:p>
            <a:pPr indent="-514350" lvl="1" marL="9715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Gill Sans"/>
              <a:buAutoNum type="alphaLcParenR"/>
            </a:pPr>
            <a:r>
              <a:rPr lang="en-ZA" sz="2400"/>
              <a:t>Remove a node v from Q and add it to </a:t>
            </a:r>
            <a:r>
              <a:rPr i="1" lang="en-ZA" sz="2400">
                <a:solidFill>
                  <a:srgbClr val="FF0000"/>
                </a:solidFill>
              </a:rPr>
              <a:t>topo_order</a:t>
            </a:r>
            <a:endParaRPr i="1" sz="2400">
              <a:solidFill>
                <a:srgbClr val="FF0000"/>
              </a:solidFill>
            </a:endParaRPr>
          </a:p>
          <a:p>
            <a:pPr indent="-514350" lvl="1" marL="9715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Gill Sans"/>
              <a:buAutoNum type="alphaLcParenR"/>
            </a:pPr>
            <a:r>
              <a:rPr lang="en-ZA" sz="2400"/>
              <a:t>For each outgoing edge from v, decrement the in-degree of the destination node w by 1.</a:t>
            </a:r>
            <a:endParaRPr/>
          </a:p>
          <a:p>
            <a:pPr indent="-514350" lvl="1" marL="9715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Gill Sans"/>
              <a:buAutoNum type="alphaLcParenR"/>
            </a:pPr>
            <a:r>
              <a:rPr lang="en-ZA" sz="2400"/>
              <a:t>If the in-degree of w becomes 0, add w to the queue.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ZA" sz="2600"/>
              <a:t>If the queue is empty and there are still nodes in the graph, the graph contains a cycle and cannot be topologically sorted.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i="1" lang="en-ZA" sz="2800">
                <a:solidFill>
                  <a:srgbClr val="FF0000"/>
                </a:solidFill>
              </a:rPr>
              <a:t>topo_order </a:t>
            </a:r>
            <a:r>
              <a:rPr lang="en-ZA" sz="2600"/>
              <a:t>represent the topological ordering of the graph.</a:t>
            </a:r>
            <a:endParaRPr i="1" sz="3200"/>
          </a:p>
          <a:p>
            <a:pPr indent="-387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159" name="Google Shape;159;p8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160" name="Google Shape;160;p8"/>
          <p:cNvCxnSpPr>
            <a:stCxn id="159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8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163" name="Google Shape;163;p8"/>
          <p:cNvCxnSpPr>
            <a:stCxn id="159" idx="5"/>
            <a:endCxn id="164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8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167" name="Google Shape;167;p8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8"/>
          <p:cNvCxnSpPr>
            <a:stCxn id="162" idx="4"/>
            <a:endCxn id="164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8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8"/>
          <p:cNvCxnSpPr>
            <a:endCxn id="166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8"/>
          <p:cNvCxnSpPr>
            <a:stCxn id="164" idx="7"/>
            <a:endCxn id="165" idx="3"/>
          </p:cNvCxnSpPr>
          <p:nvPr/>
        </p:nvCxnSpPr>
        <p:spPr>
          <a:xfrm flipH="1" rot="10800000">
            <a:off x="3405987" y="2400197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177" name="Google Shape;177;p9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178" name="Google Shape;178;p9"/>
          <p:cNvCxnSpPr>
            <a:stCxn id="177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9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181" name="Google Shape;181;p9"/>
          <p:cNvCxnSpPr>
            <a:stCxn id="177" idx="5"/>
            <a:endCxn id="182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9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185" name="Google Shape;185;p9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9"/>
          <p:cNvCxnSpPr>
            <a:stCxn id="180" idx="4"/>
            <a:endCxn id="182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9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9"/>
          <p:cNvCxnSpPr>
            <a:endCxn id="184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9"/>
          <p:cNvCxnSpPr>
            <a:stCxn id="182" idx="7"/>
            <a:endCxn id="183" idx="3"/>
          </p:cNvCxnSpPr>
          <p:nvPr/>
        </p:nvCxnSpPr>
        <p:spPr>
          <a:xfrm flipH="1" rot="10800000">
            <a:off x="3405987" y="2400197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9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6665843" y="2400195"/>
            <a:ext cx="406841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Compute the in-degree of each vertex.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202" name="Google Shape;202;p10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203" name="Google Shape;203;p10"/>
          <p:cNvCxnSpPr>
            <a:stCxn id="202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10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206" name="Google Shape;206;p10"/>
          <p:cNvCxnSpPr>
            <a:stCxn id="202" idx="5"/>
            <a:endCxn id="207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10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210" name="Google Shape;210;p10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10"/>
          <p:cNvCxnSpPr>
            <a:stCxn id="205" idx="4"/>
            <a:endCxn id="207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p10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10"/>
          <p:cNvCxnSpPr>
            <a:endCxn id="209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10"/>
          <p:cNvCxnSpPr>
            <a:endCxn id="208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10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(1, 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()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 the vertices with in-degree onto a queue.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228" name="Google Shape;228;p11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229" name="Google Shape;229;p11"/>
          <p:cNvCxnSpPr>
            <a:stCxn id="228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11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232" name="Google Shape;232;p11"/>
          <p:cNvCxnSpPr>
            <a:stCxn id="228" idx="5"/>
            <a:endCxn id="233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11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236" name="Google Shape;236;p11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11"/>
          <p:cNvCxnSpPr>
            <a:stCxn id="231" idx="4"/>
            <a:endCxn id="233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11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11"/>
          <p:cNvCxnSpPr>
            <a:endCxn id="235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11"/>
          <p:cNvCxnSpPr>
            <a:endCxn id="234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" name="Google Shape;241;p11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(3, 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(1)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 vertex to T and reduce the in-degree of its neighbours by 1.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254" name="Google Shape;254;p12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255" name="Google Shape;255;p12"/>
          <p:cNvCxnSpPr>
            <a:stCxn id="254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2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258" name="Google Shape;258;p12"/>
          <p:cNvCxnSpPr>
            <a:stCxn id="254" idx="5"/>
            <a:endCxn id="259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12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262" name="Google Shape;262;p12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12"/>
          <p:cNvCxnSpPr>
            <a:stCxn id="257" idx="4"/>
            <a:endCxn id="259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12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" name="Google Shape;265;p12"/>
          <p:cNvCxnSpPr>
            <a:endCxn id="261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12"/>
          <p:cNvCxnSpPr>
            <a:endCxn id="260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12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72" name="Google Shape;272;p12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(2, 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3)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 vertex to T and reduce the in-degree of its neighbours by 1.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280" name="Google Shape;280;p13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281" name="Google Shape;281;p13"/>
          <p:cNvCxnSpPr>
            <a:stCxn id="280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13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284" name="Google Shape;284;p13"/>
          <p:cNvCxnSpPr>
            <a:stCxn id="280" idx="5"/>
            <a:endCxn id="285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p13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288" name="Google Shape;288;p13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13"/>
          <p:cNvCxnSpPr>
            <a:stCxn id="283" idx="4"/>
            <a:endCxn id="285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13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13"/>
          <p:cNvCxnSpPr>
            <a:endCxn id="287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13"/>
          <p:cNvCxnSpPr>
            <a:endCxn id="286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13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3, 2)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 vertex to T and reduce the in-degree of its neighbours by 1.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306" name="Google Shape;306;p14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307" name="Google Shape;307;p14"/>
          <p:cNvCxnSpPr>
            <a:stCxn id="306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14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310" name="Google Shape;310;p14"/>
          <p:cNvCxnSpPr>
            <a:stCxn id="306" idx="5"/>
            <a:endCxn id="311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14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314" name="Google Shape;314;p14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4"/>
          <p:cNvCxnSpPr>
            <a:stCxn id="309" idx="4"/>
            <a:endCxn id="311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14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14"/>
          <p:cNvCxnSpPr>
            <a:endCxn id="313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14"/>
          <p:cNvCxnSpPr>
            <a:endCxn id="312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14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3, 2, 4)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 vertex to T and reduce the in-degree of its neighbours by 1.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332" name="Google Shape;332;p15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333" name="Google Shape;333;p15"/>
          <p:cNvCxnSpPr>
            <a:stCxn id="332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15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336" name="Google Shape;336;p15"/>
          <p:cNvCxnSpPr>
            <a:stCxn id="332" idx="5"/>
            <a:endCxn id="337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5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340" name="Google Shape;340;p15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15"/>
          <p:cNvCxnSpPr>
            <a:stCxn id="335" idx="4"/>
            <a:endCxn id="337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15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" name="Google Shape;343;p15"/>
          <p:cNvCxnSpPr>
            <a:endCxn id="339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" name="Google Shape;344;p15"/>
          <p:cNvCxnSpPr>
            <a:endCxn id="338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15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3, 2, 4, 5)</a:t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6665843" y="2400195"/>
            <a:ext cx="406841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 vertex to T and reduce the in-degree of its neighbours by 1.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VISUAL</a:t>
            </a:r>
            <a:endParaRPr u="sng"/>
          </a:p>
        </p:txBody>
      </p:sp>
      <p:sp>
        <p:nvSpPr>
          <p:cNvPr id="358" name="Google Shape;358;p16"/>
          <p:cNvSpPr/>
          <p:nvPr/>
        </p:nvSpPr>
        <p:spPr>
          <a:xfrm>
            <a:off x="838200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cxnSp>
        <p:nvCxnSpPr>
          <p:cNvPr id="359" name="Google Shape;359;p16"/>
          <p:cNvCxnSpPr>
            <a:stCxn id="358" idx="4"/>
          </p:cNvCxnSpPr>
          <p:nvPr/>
        </p:nvCxnSpPr>
        <p:spPr>
          <a:xfrm flipH="1">
            <a:off x="1129800" y="2491410"/>
            <a:ext cx="132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16"/>
          <p:cNvSpPr/>
          <p:nvPr/>
        </p:nvSpPr>
        <p:spPr>
          <a:xfrm>
            <a:off x="838200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2885661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cxnSp>
        <p:nvCxnSpPr>
          <p:cNvPr id="362" name="Google Shape;362;p16"/>
          <p:cNvCxnSpPr>
            <a:stCxn id="358" idx="5"/>
            <a:endCxn id="363" idx="1"/>
          </p:cNvCxnSpPr>
          <p:nvPr/>
        </p:nvCxnSpPr>
        <p:spPr>
          <a:xfrm>
            <a:off x="1358526" y="2400195"/>
            <a:ext cx="1616400" cy="140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3" name="Google Shape;363;p16"/>
          <p:cNvSpPr/>
          <p:nvPr/>
        </p:nvSpPr>
        <p:spPr>
          <a:xfrm>
            <a:off x="2885661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4933122" y="1868558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4933122" y="3712682"/>
            <a:ext cx="609600" cy="622852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cxnSp>
        <p:nvCxnSpPr>
          <p:cNvPr id="366" name="Google Shape;366;p16"/>
          <p:cNvCxnSpPr/>
          <p:nvPr/>
        </p:nvCxnSpPr>
        <p:spPr>
          <a:xfrm>
            <a:off x="3495261" y="217998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16"/>
          <p:cNvCxnSpPr>
            <a:stCxn id="361" idx="4"/>
            <a:endCxn id="363" idx="0"/>
          </p:cNvCxnSpPr>
          <p:nvPr/>
        </p:nvCxnSpPr>
        <p:spPr>
          <a:xfrm>
            <a:off x="3190461" y="2491410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8" name="Google Shape;368;p16"/>
          <p:cNvCxnSpPr/>
          <p:nvPr/>
        </p:nvCxnSpPr>
        <p:spPr>
          <a:xfrm>
            <a:off x="3495260" y="4050614"/>
            <a:ext cx="14378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" name="Google Shape;369;p16"/>
          <p:cNvCxnSpPr>
            <a:endCxn id="365" idx="0"/>
          </p:cNvCxnSpPr>
          <p:nvPr/>
        </p:nvCxnSpPr>
        <p:spPr>
          <a:xfrm>
            <a:off x="5237922" y="2491382"/>
            <a:ext cx="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" name="Google Shape;370;p16"/>
          <p:cNvCxnSpPr>
            <a:endCxn id="364" idx="3"/>
          </p:cNvCxnSpPr>
          <p:nvPr/>
        </p:nvCxnSpPr>
        <p:spPr>
          <a:xfrm flipH="1" rot="10800000">
            <a:off x="3422496" y="2400195"/>
            <a:ext cx="1599900" cy="136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1" name="Google Shape;371;p16"/>
          <p:cNvSpPr txBox="1"/>
          <p:nvPr/>
        </p:nvSpPr>
        <p:spPr>
          <a:xfrm>
            <a:off x="1229139" y="156260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1242391" y="340125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3" name="Google Shape;373;p16"/>
          <p:cNvSpPr txBox="1"/>
          <p:nvPr/>
        </p:nvSpPr>
        <p:spPr>
          <a:xfrm>
            <a:off x="3276599" y="1544538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5489711" y="1626647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5" name="Google Shape;375;p16"/>
          <p:cNvSpPr txBox="1"/>
          <p:nvPr/>
        </p:nvSpPr>
        <p:spPr>
          <a:xfrm>
            <a:off x="3231964" y="3309255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5445254" y="3476216"/>
            <a:ext cx="437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838200" y="4982817"/>
            <a:ext cx="258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 = 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 = (1, 3, 2, 4, 5, 6)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KAHN’S ALGORITHM</a:t>
            </a:r>
            <a:endParaRPr/>
          </a:p>
        </p:txBody>
      </p:sp>
      <p:sp>
        <p:nvSpPr>
          <p:cNvPr id="383" name="Google Shape;383;p17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ZA" sz="3200" u="sng"/>
              <a:t>Time complexity: O(|V| + |E|)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ZA" sz="3200"/>
              <a:t>You go through each vertex once and you check each edge once.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ZA" sz="3200" u="sng"/>
              <a:t>Space complexity: O(|V| + |E|)</a:t>
            </a:r>
            <a:endParaRPr sz="3200" u="sng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ZA" sz="3200"/>
              <a:t>You only need a list containing the vertices and a list containing the edges.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ZA" sz="4000"/>
              <a:t>TOPOLOGICAL SORT USING DFS</a:t>
            </a:r>
            <a:endParaRPr/>
          </a:p>
        </p:txBody>
      </p:sp>
      <p:sp>
        <p:nvSpPr>
          <p:cNvPr id="389" name="Google Shape;389;p1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Initialize an empty list </a:t>
            </a:r>
            <a:r>
              <a:rPr b="0" i="1" lang="en-ZA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topo_order 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=[]</a:t>
            </a:r>
            <a:endParaRPr b="0"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For each unvisited vertex in the graph, do the following: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Find the </a:t>
            </a:r>
            <a:r>
              <a:rPr b="1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post ordering 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of DFS with the unvisted vertex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Append the post ordering DFS to </a:t>
            </a:r>
            <a:r>
              <a:rPr b="0" i="1" lang="en-ZA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visited_nodes</a:t>
            </a:r>
            <a:endParaRPr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14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3429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0" i="0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Reverse </a:t>
            </a:r>
            <a:r>
              <a:rPr b="0" i="1" lang="en-ZA" sz="24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topo_order </a:t>
            </a:r>
            <a:r>
              <a:rPr b="0" i="0" lang="en-ZA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→ that is the topological order</a:t>
            </a:r>
            <a:endParaRPr b="0"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ZA" sz="4000"/>
              <a:t>TOPOLOGICAL SORT USING DFS</a:t>
            </a:r>
            <a:endParaRPr/>
          </a:p>
        </p:txBody>
      </p:sp>
      <p:sp>
        <p:nvSpPr>
          <p:cNvPr id="395" name="Google Shape;395;p19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1. Initialize an empty list: topo_order = []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For each unvisited vertex u in the graph: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a. Perform DFS(u):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i. Mark u as visited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ii. Recursively DFS all neighbors v of u that are unvisited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iii. After all neighbors are visited, append u to topo_order</a:t>
            </a:r>
            <a:endParaRPr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Reverse topo_order → that is the topological order</a:t>
            </a:r>
            <a:endParaRPr b="0"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ZA" sz="4000"/>
              <a:t>TOPOLOGICAL SORT USING DFS</a:t>
            </a:r>
            <a:endParaRPr/>
          </a:p>
        </p:txBody>
      </p:sp>
      <p:sp>
        <p:nvSpPr>
          <p:cNvPr id="401" name="Google Shape;401;p20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1. Initialize an empty list: topo_order = []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For each unvisited vertex u in the graph: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a. Perform DFS(u):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i. Mark u as visited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ii. Recursively DFS all neighbors v of u that are unvisited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iii. After all neighbors are visited, append u to topo_order</a:t>
            </a:r>
            <a:endParaRPr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0" i="0" lang="en-ZA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Reverse topo_order → that is the topological order</a:t>
            </a:r>
            <a:endParaRPr b="0" i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ZA" sz="3200"/>
              <a:t>TOPOLOGICAL SORT USING DFS</a:t>
            </a:r>
            <a:endParaRPr/>
          </a:p>
        </p:txBody>
      </p:sp>
      <p:sp>
        <p:nvSpPr>
          <p:cNvPr id="407" name="Google Shape;407;p2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ZA"/>
              <a:t>Initilize: topo_order=[]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Vertex 0 -&gt; postordering is [0] -&gt; topo_order=[0]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Vertex 1 -&gt; postordering is [1] -&gt; topo_order=[0, 1]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Vertex 2 -&gt; postordering is [3, 2] -&gt; topo_order=[0, 1, 3, 2]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Vertex 4 -&gt; postordering is [4] -&gt; topo_order=[0, 1, 3, 2, 4]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/>
              <a:t>Vertex 5 -&gt; postordering is [5] -&gt; topo_order=[0, 1, 3, 2, 4, 5]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So, the topological order is reverse of [0, 1, 3, 2, 4, 5] = 5, 4, 2, 3, 1, 0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08" name="Google Shape;4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4379" y="2198814"/>
            <a:ext cx="3886742" cy="32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ZA" sz="5400"/>
              <a:t>TOPOLOGICAL SORT USING DFS</a:t>
            </a:r>
            <a:endParaRPr sz="5400" u="sng"/>
          </a:p>
        </p:txBody>
      </p:sp>
      <p:sp>
        <p:nvSpPr>
          <p:cNvPr id="414" name="Google Shape;414;p2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ZA" sz="3200" u="sng"/>
              <a:t>Time complexity: O(V + E)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ZA" sz="3200"/>
              <a:t>You traverse each edge once and you check each vertex once to find the in-degree of each vertex.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ZA" sz="3200" u="sng"/>
              <a:t>Space complexity: O(V + E)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ZA" sz="3200"/>
              <a:t>You need a list of edges and a few lists of the vertices (technically it’s 3V + 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EXAMPLE PROBLEM</a:t>
            </a:r>
            <a:endParaRPr/>
          </a:p>
        </p:txBody>
      </p:sp>
      <p:sp>
        <p:nvSpPr>
          <p:cNvPr id="420" name="Google Shape;420;p2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ZA"/>
              <a:t>1️⃣ Build Systems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IDEs like Eclipse, NetBeans must build projects with many interdependent libraries.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Topological Sort helps determine the order in which libraries should be built or included.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2️⃣ Advanced Packaging Tool (APT)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In Linux, apt-get installs software with dependencies.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Topological Sort ensures packages are installed in the correct dependency order.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EXAMPLE PROBLEM</a:t>
            </a:r>
            <a:endParaRPr/>
          </a:p>
        </p:txBody>
      </p:sp>
      <p:sp>
        <p:nvSpPr>
          <p:cNvPr id="426" name="Google Shape;426;p24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ZA"/>
              <a:t>3️⃣ Task Scheduling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Useful for scheduling tasks with dependencies.Helps determine the correct sequence of task execution.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4️⃣ Prerequisite Problems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ZA"/>
              <a:t>Common in education or workflows: some tasks require others to be done first.Example: must complete Basic Algorithms before Advanced Algorithms.Topological Sort reveals a valid order respecting all prerequisites.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ZA" sz="5400" u="sng"/>
              <a:t>REFERENCES</a:t>
            </a:r>
            <a:endParaRPr/>
          </a:p>
        </p:txBody>
      </p:sp>
      <p:sp>
        <p:nvSpPr>
          <p:cNvPr id="432" name="Google Shape;432;p2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n-ZA" u="sng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Kahn's Algorithm</a:t>
            </a:r>
            <a:endParaRPr b="1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ZA" u="sng">
                <a:solidFill>
                  <a:schemeClr val="hlink"/>
                </a:solidFill>
                <a:hlinkClick r:id="rId4"/>
              </a:rPr>
              <a:t>Topological Sorting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2017-01-08T17:31:38Z</dcterms:created>
  <dc:creator>Ralph McDougall</dc:creator>
</cp:coreProperties>
</file>